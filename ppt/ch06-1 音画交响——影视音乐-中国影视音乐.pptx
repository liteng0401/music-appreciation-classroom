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6638A"/>
                </a:solidFill>
                <a:latin typeface="Microsoft YaHei"/>
              </a:rPr>
              <a:t>第06单元　音画交响——影视音乐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51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23303A"/>
                </a:solidFill>
                <a:latin typeface="Microsoft YaHei"/>
              </a:rPr>
              <a:t>第1节　中国影视音乐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6B7780"/>
                </a:solidFill>
                <a:latin typeface="Microsoft YaHei"/>
              </a:rPr>
              <a:t>河北峰峰第一中学 · 音乐鉴赏（人音版必修 2019）· 上篇</a:t>
            </a:r>
          </a:p>
        </p:txBody>
      </p:sp>
      <p:pic>
        <p:nvPicPr>
          <p:cNvPr id="5" name="Picture 4" descr="schoo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0" y="411480"/>
            <a:ext cx="1051560" cy="1051560"/>
          </a:xfrm>
          <a:prstGeom prst="rect">
            <a:avLst/>
          </a:prstGeom>
        </p:spPr>
      </p:pic>
      <p:pic>
        <p:nvPicPr>
          <p:cNvPr id="6" name="Picture 5" descr="school-n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97680"/>
            <a:ext cx="2743200" cy="7397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学习目标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本课要带学生走到哪里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0" i="0">
                <a:solidFill>
                  <a:srgbClr val="23303A"/>
                </a:solidFill>
                <a:latin typeface="Microsoft YaHei"/>
              </a:rPr>
              <a:t>• 影视音乐与画面同步，功能在"暗示情绪、烘托气氛、揭示意义、强化刺激"。鉴赏时把音乐放回"剧情/场景"中，看它如何使影像获得动力与连续感。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核心框架 / 概念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鉴赏的工具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影视音乐的功能：与情节、场景紧密相连，以表现心情或烘托气氛为主；与影像同步，使影片具动力和连续感，暗示情绪、气氛、角色和戏剧情节（书第7…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影视音乐的分类：按作用分主题曲、插曲、主题音乐、场景音乐、背景音乐（书第79页）。 - 何时使用： 给一首影视曲定性。 - 如何判断： …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无声/有声电影时代：1895电影诞生，无声片靠钢琴即兴伴奏；1926 Vitaphone 技术使音画同步，《爵士歌手》(1927) 引有声片…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影视音乐：与屏幕影像同步呈现的音乐，能暗示情绪气氛角色情节，使场景意义明晰、强化视听刺激（书第79页）。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无声电影时代：1895年卢米埃尔放映短片的钢琴即兴伴奏贯穿始终，古典/改编/新创音乐并用（书第76页）。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有声电影时代：1926华纳 Vitaphone 使留声机音乐与胶片同步；1927《爵士歌手》同步对白造成轰动，30年代好莱坞黄金时代，…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主题曲/插曲/主题音乐/场景音乐/背景音乐：影视音乐按作用的五类分法（书第79页）。</a:t>
            </a:r>
          </a:p>
          <a:p>
            <a:pPr lvl="1">
              <a:spcAft>
                <a:spcPts val="600"/>
              </a:spcAft>
            </a:pPr>
            <a:r>
              <a:rPr sz="1300" b="0" i="0">
                <a:solidFill>
                  <a:srgbClr val="6B7780"/>
                </a:solidFill>
                <a:latin typeface="Microsoft YaHei"/>
              </a:rPr>
              <a:t>– 奥斯卡最佳原创音乐：学院奖设此奖，我国苏聪、谭盾曾获（书第78页，相关链接）。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易错提醒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学生最容易踩的坑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把影视音乐当纯听赏曲：它服务于画面，忽略剧情（《怀念战友》的战友离别背景）会误读情感指向。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混淆主题曲与插曲功能：主题曲统摄全片基调，插曲点染局部情绪；功能错位会错估其在片中的地位。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忽略技术史语境：不知"无声片靠现场伴奏"就难理解为何后来原创配乐成为必需。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作品鉴赏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本课曲目与聆听要点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371600"/>
          <a:ext cx="10881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5720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曲名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作者 / 来源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6638A"/>
                          </a:solidFill>
                          <a:latin typeface="Microsoft YaHei"/>
                        </a:rPr>
                        <a:t>体裁</a:t>
                      </a:r>
                    </a:p>
                  </a:txBody>
                  <a:tcPr>
                    <a:solidFill>
                      <a:srgbClr val="F4F1E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怀念战友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电影《冰山上的来客》插曲，雷振邦曲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2/4·3/4交替，比兴抒悲痛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大宅门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电视剧《大宅门》主题歌，赵季平曲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京韵，散慢中快散+急急风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百鸟朝凤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电影《百鸟朝凤》配乐，张大龙曲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3303A"/>
                          </a:solidFill>
                          <a:latin typeface="Microsoft YaHei"/>
                        </a:rPr>
                        <a:t>唢呐协奏，模拟鸟鸣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审辨焦点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先让学生‘看出来’什么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影视音乐与画面同步，功能在"暗示情绪、烘托气氛、揭示意义、强化刺激"。鉴赏时把音乐放回"剧情/场景"中，看它如何使影像获得动力与连续感。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辨明「影视音乐」的含义与听辨方法。</a:t>
            </a:r>
          </a:p>
          <a:p>
            <a:pPr>
              <a:spcAft>
                <a:spcPts val="600"/>
              </a:spcAft>
            </a:pPr>
            <a:r>
              <a:rPr sz="1700" b="0" i="0">
                <a:solidFill>
                  <a:srgbClr val="23303A"/>
                </a:solidFill>
                <a:latin typeface="Microsoft YaHei"/>
              </a:rPr>
              <a:t>• 区分「影视音乐」与「无声电影时代」的边界，避免混淆。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变易教学设计 · 四变易图式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对比 / 类合 / 区分 / 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【对比】对比《怀念战友》与《艾米莉的华尔兹》：并置聆听，引导学生聚焦「影视音乐」听辨二者处理的不同，体会同一母题如何因要素差异而生出不同音乐性格。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【类合】类合：将《怀念战友》《大宅门》《百鸟朝凤》并听，归纳它们在「影视音乐」上的共同表达，形成对这类音乐的概括性认识。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【区分】区分：暂时悬置其他要素，单点聚焦「影视音乐」，让学生只听这一层，建立清晰辨知后再放回整体。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23303A"/>
                </a:solidFill>
                <a:latin typeface="Microsoft YaHei"/>
              </a:rPr>
              <a:t>• 【融合】融合：设计聆听任务，让学生同时关照「影视音乐」与情感内涵（如边听边标情绪 / 写联想），在综合中深化理解。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下列关于「有声电影时代」的表述，正确的是？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学院奖设此奖，我国苏聪、谭盾曾获（书第78页，相关链接）。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按作用分主题曲、插曲、主题音乐、场景音乐、背景音乐（书第79页）。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1926华纳 Vitaphone 使留声机音乐与胶片同步；1927《爵士歌手》同步对白造成轰动，30年代好莱坞黄金时代，电影音乐成重要组成（书第76页）。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与情节、场景紧密相连，以表现心情或烘托气氛为主；与影像同步，使影片具动力和连续感，暗示情绪、气氛、角色和戏剧情节（书第79页）。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解析：1926华纳 Vitaphone 使留声机音乐与胶片同步；1927《爵士歌手》同步对白造成轰动，30年代好莱坞黄金时代，电影音乐成重要组成（书第76页）。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下列关于「奥斯卡最佳原创音乐」的表述，正确的是？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1926华纳 Vitaphone 使留声机音乐与胶片同步；1927《爵士歌手》同步对白造成轰动，30年代好莱坞黄金时代，电影音乐成重要组成（书第76页）。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影视音乐按作用的五类分法（书第79页）。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与情节、场景紧密相连，以表现心情或烘托气氛为主；与影像同步，使影片具动力和连续感，暗示情绪、气氛、角色和戏剧情节（书第79页）。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D. 学院奖设此奖，我国苏聪、谭盾曾获（书第78页，相关链接）。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解析：学院奖设此奖，我国苏聪、谭盾曾获（书第78页，相关链接）。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下列关于「影视音乐」的表述，正确的是？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A. 与屏幕影像同步呈现的音乐，能暗示情绪气氛角色情节，使场景意义明晰、强化视听刺激（书第79页）。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1895电影诞生，无声片靠钢琴即兴伴奏；1926 Vitaphone 技术使音画同步，《爵士歌手》(1927) 引有声片革命（书第76页）。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C. 与情节、场景紧密相连，以表现心情或烘托气氛为主；与影像同步，使影片具动力和连续感，暗示情绪、气氛、角色和戏剧情节（书第79页）。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按作用分主题曲、插曲、主题音乐、场景音乐、背景音乐（书第79页）。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解析：与屏幕影像同步呈现的音乐，能暗示情绪气氛角色情节，使场景意义明晰、强化视听刺激（书第79页）。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《怀念战友》的作曲/来源是？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电影《天使艾米莉》片尾曲，扬·提尔森曲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电影《百鸟朝凤》配乐，张大龙曲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电影《冰山上的来客》插曲，雷振邦曲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电影《星球大战》主题曲，约翰·威廉姆斯曲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解析：《怀念战友》— 电影《冰山上的来客》插曲，雷振邦曲，体裁：2/4·3/4交替，比兴抒悲痛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《百鸟朝凤》的作曲/来源是？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电影《星球大战》主题曲，约翰·威廉姆斯曲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B. 电影《冰山上的来客》插曲，雷振邦曲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C. 电影《百鸟朝凤》配乐，张大龙曲 ✅</a:t>
            </a:r>
          </a:p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D. 电视剧《大宅门》主题歌，赵季平曲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解析：《百鸟朝凤》— 电影《百鸟朝凤》配乐，张大龙曲，体裁：唢呐协奏，模拟鸟鸣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随堂练习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judge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3303A"/>
                </a:solidFill>
                <a:latin typeface="Microsoft YaHei"/>
              </a:rPr>
              <a:t>判断：「mistake」是鉴赏时的正确做法。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A. 正确</a:t>
            </a:r>
          </a:p>
          <a:p>
            <a:pPr>
              <a:spcAft>
                <a:spcPts val="800"/>
              </a:spcAft>
            </a:pPr>
            <a:r>
              <a:rPr sz="1600" b="1" i="0">
                <a:solidFill>
                  <a:srgbClr val="23303A"/>
                </a:solidFill>
                <a:latin typeface="Microsoft YaHei"/>
              </a:rPr>
              <a:t>• B. 错误 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780"/>
                </a:solidFill>
                <a:latin typeface="Microsoft YaHei"/>
              </a:rPr>
              <a:t>解析：why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C0392B"/>
                </a:solidFill>
                <a:latin typeface="Microsoft YaHei"/>
              </a:rPr>
              <a:t>配套资源</a:t>
            </a:r>
          </a:p>
          <a:p>
            <a:r>
              <a:rPr sz="1400" b="0" i="0">
                <a:solidFill>
                  <a:srgbClr val="6B7780"/>
                </a:solidFill>
                <a:latin typeface="Microsoft YaHei"/>
              </a:rPr>
              <a:t>与网页电子课本联动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打开 index.html：本单元重点知识讲解 + 即时判分练习 + 术语速查。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右下角 📝 便签：上课随手记校本补充，仅存本机浏览器。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23303A"/>
                </a:solidFill>
                <a:latin typeface="Microsoft YaHei"/>
              </a:rPr>
              <a:t>• 校徽与校名已置入页面，投影即见学校标识。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